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3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201168"/>
          </a:xfrm>
          <a:prstGeom prst="rect">
            <a:avLst/>
          </a:prstGeom>
          <a:solidFill>
            <a:srgbClr val="C8D9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Analysis of Walking and Running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2743200" cy="36576"/>
          </a:xfrm>
          <a:prstGeom prst="rect">
            <a:avLst/>
          </a:prstGeom>
          <a:solidFill>
            <a:srgbClr val="C8D9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 Narnolia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4251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Pose Estimation  ·  BiLSTM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77640" cy="4041648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3977640" cy="438912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5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human gait into Walking and Running from short RGB video clips (~2–3 seconds, FPS ≥ 25)
</a:t>
            </a:r>
            <a:r>
              <a:rPr lang="en-US" sz="12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5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is a temporal motion pattern — single-frame classification is insufficient
</a:t>
            </a:r>
            <a:r>
              <a:rPr lang="en-US" sz="12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5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sequence-based approach is required to capture motion dynamics over time
</a:t>
            </a:r>
            <a:r>
              <a:rPr lang="en-US" sz="12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5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pose-based skeletal motion analysis instead of raw appearance features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3977640" cy="4041648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04672"/>
            <a:ext cx="3977640" cy="438912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0467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pose keypoints from video frames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385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keypoints into structured gait embeddings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50545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fixed-length temporal sequences (50 frames)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30723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motion as Walking or Running using BiLSTM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393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 in multi-person video scenarios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2F4156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clips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sec, ≥25 FPS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99032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99032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53312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YOLOv7-W6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keypoints / frame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96896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96896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51176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94760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82312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42-dim vector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92624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92624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0176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46904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50-frame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90488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78040" y="1389888"/>
            <a:ext cx="164592" cy="54864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129844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7C8D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105156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3A6B5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88352" y="1051560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/ Run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42632" y="187452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200400"/>
            <a:ext cx="8503920" cy="1572768"/>
          </a:xfrm>
          <a:prstGeom prst="roundRect">
            <a:avLst>
              <a:gd name="adj" fmla="val 4070"/>
            </a:avLst>
          </a:prstGeom>
          <a:solidFill>
            <a:srgbClr val="F5EF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273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Details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Model: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71016" y="363720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YOLOv7-W6 (17 keypoints per person per frame)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9744" y="36168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(Inference):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07608" y="3630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— robust multi-person tracking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82615" y="402547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frames (sliding window of 1 during inference)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40008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8172" y="40142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gait embeddings → Walking / Running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and Pose Embedding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6634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Breakdown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97680" cy="411480"/>
          </a:xfrm>
          <a:prstGeom prst="roundRect">
            <a:avLst>
              <a:gd name="adj" fmla="val 11111"/>
            </a:avLst>
          </a:prstGeom>
          <a:solidFill>
            <a:srgbClr val="C8D9E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keypoints detected per frame  →  YOLOv7-W6 Pose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297680" cy="384048"/>
          </a:xfrm>
          <a:prstGeom prst="roundRect">
            <a:avLst>
              <a:gd name="adj" fmla="val 11905"/>
            </a:avLst>
          </a:prstGeom>
          <a:solidFill>
            <a:srgbClr val="2F415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288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embedding: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∈ ℝ⁴²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84048" cy="384048"/>
          </a:xfrm>
          <a:prstGeom prst="ellipse">
            <a:avLst/>
          </a:prstGeom>
          <a:solidFill>
            <a:srgbClr val="567C8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coordinate features  (x, y per keypoint)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384048" cy="384048"/>
          </a:xfrm>
          <a:prstGeom prst="ellipse">
            <a:avLst/>
          </a:prstGeom>
          <a:solidFill>
            <a:srgbClr val="567C8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8803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angle features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3200400"/>
            <a:ext cx="2831123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Knee Flexion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Hip Flexion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Elbow Flexion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Lean Angle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Inter-Thigh Angle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777240"/>
            <a:ext cx="3703320" cy="4069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8961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57800" y="13258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Normalization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49240" y="1691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Torso-based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from: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Left/Right Shoulders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Left/Right Hips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2816352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F5EF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Normalization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normalized by 180°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3749040"/>
            <a:ext cx="3383280" cy="804672"/>
          </a:xfrm>
          <a:prstGeom prst="roundRect">
            <a:avLst>
              <a:gd name="adj" fmla="val 6818"/>
            </a:avLst>
          </a:prstGeom>
          <a:solidFill>
            <a:srgbClr val="2F4156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374904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scaled: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Sequence Construction and Multi-Person Handling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4160520" cy="4096512"/>
          </a:xfrm>
          <a:prstGeom prst="roundRect">
            <a:avLst>
              <a:gd name="adj" fmla="val 1786"/>
            </a:avLst>
          </a:prstGeom>
          <a:solidFill>
            <a:srgbClr val="F5EF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Construction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learned as a sequence of frames, not isolated frames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= 50 consecutive frame embeddings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access preserves motion continuity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with &lt; 50 valid frames → oversampling / repetition to fill to 50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— Sliding Window: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273552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C8D9E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2735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[X₁  …  X₅₀]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95728" y="327355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6576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C8D9E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6576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[X₂  …  X₅₁]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36576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04164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C8D9E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0416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[X₃  …  X₅₂]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5728" y="40416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425696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C8D9E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4256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⋮       ⋮  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95728" y="44256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  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768096"/>
            <a:ext cx="4160520" cy="4096512"/>
          </a:xfrm>
          <a:prstGeom prst="roundRect">
            <a:avLst>
              <a:gd name="adj" fmla="val 1786"/>
            </a:avLst>
          </a:prstGeom>
          <a:solidFill>
            <a:srgbClr val="F5EF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8778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Handling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280160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1353312"/>
            <a:ext cx="329184" cy="329184"/>
          </a:xfrm>
          <a:prstGeom prst="ellipse">
            <a:avLst/>
          </a:prstGeom>
          <a:solidFill>
            <a:srgbClr val="567C8D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21808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16642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single-person videos; some contained multiple detected persons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395728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9472" y="2468880"/>
            <a:ext cx="329184" cy="329184"/>
          </a:xfrm>
          <a:prstGeom prst="ellipse">
            <a:avLst/>
          </a:prstGeom>
          <a:solidFill>
            <a:srgbClr val="C0704F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2468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277977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tracker used for ID assignment. Bounding boxes not reliable enough → tracking outputs excluded from training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511296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3584448"/>
            <a:ext cx="329184" cy="329184"/>
          </a:xfrm>
          <a:prstGeom prst="ellipse">
            <a:avLst/>
          </a:prstGeom>
          <a:solidFill>
            <a:srgbClr val="3A6B50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89534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used successfully — robust multi-person tracking with individual walk/run predictions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Model Architecture and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2F4156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86384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50 × 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1468" y="1362456"/>
            <a:ext cx="54864" cy="109728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63040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Layer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46504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  |  return_sequences=True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1468" y="2039112"/>
            <a:ext cx="54864" cy="109728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39696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139696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Layer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423160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1468" y="2715768"/>
            <a:ext cx="54864" cy="109728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16352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16352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099816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1468" y="3392424"/>
            <a:ext cx="54864" cy="109728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93008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567C8D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493008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776472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  |  ReLU activation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1468" y="4069080"/>
            <a:ext cx="54864" cy="109728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69664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3A6B5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169664"/>
            <a:ext cx="443484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(Softmax)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453128"/>
            <a:ext cx="443484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classes: Walking  /  Running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77724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896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85232" y="1325880"/>
            <a:ext cx="3511296" cy="420624"/>
          </a:xfrm>
          <a:prstGeom prst="rect">
            <a:avLst/>
          </a:prstGeom>
          <a:solidFill>
            <a:srgbClr val="F5E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3258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05472" y="132588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85232" y="1764792"/>
            <a:ext cx="351129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05472" y="176479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85232" y="2203704"/>
            <a:ext cx="3511296" cy="420624"/>
          </a:xfrm>
          <a:prstGeom prst="rect">
            <a:avLst/>
          </a:prstGeom>
          <a:solidFill>
            <a:srgbClr val="F5E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22037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05472" y="220370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285232" y="2642616"/>
            <a:ext cx="351129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26426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05472" y="26426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85232" y="3081528"/>
            <a:ext cx="3511296" cy="420624"/>
          </a:xfrm>
          <a:prstGeom prst="rect">
            <a:avLst/>
          </a:prstGeom>
          <a:solidFill>
            <a:srgbClr val="F5E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0815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05472" y="308152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85232" y="3520440"/>
            <a:ext cx="351129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35204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205472" y="35204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285232" y="3959352"/>
            <a:ext cx="3511296" cy="420624"/>
          </a:xfrm>
          <a:prstGeom prst="rect">
            <a:avLst/>
          </a:prstGeom>
          <a:solidFill>
            <a:srgbClr val="F5E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39593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205472" y="395935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F4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2F4156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77.49%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5EF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59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Walk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697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3017520"/>
            <a:ext cx="5444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Walk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3749040"/>
            <a:ext cx="6175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3017520"/>
            <a:ext cx="1005840" cy="685800"/>
          </a:xfrm>
          <a:prstGeom prst="roundRect">
            <a:avLst>
              <a:gd name="adj" fmla="val 6667"/>
            </a:avLst>
          </a:prstGeom>
          <a:solidFill>
            <a:srgbClr val="3A6B5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" y="34930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3017520"/>
            <a:ext cx="1005840" cy="685800"/>
          </a:xfrm>
          <a:prstGeom prst="roundRect">
            <a:avLst>
              <a:gd name="adj" fmla="val 6667"/>
            </a:avLst>
          </a:prstGeom>
          <a:solidFill>
            <a:srgbClr val="C0704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4930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9808" y="3749040"/>
            <a:ext cx="1005840" cy="685800"/>
          </a:xfrm>
          <a:prstGeom prst="roundRect">
            <a:avLst>
              <a:gd name="adj" fmla="val 6667"/>
            </a:avLst>
          </a:prstGeom>
          <a:solidFill>
            <a:srgbClr val="C0704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9808" y="42245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0" y="3749040"/>
            <a:ext cx="1005840" cy="685800"/>
          </a:xfrm>
          <a:prstGeom prst="roundRect">
            <a:avLst>
              <a:gd name="adj" fmla="val 6667"/>
            </a:avLst>
          </a:prstGeom>
          <a:solidFill>
            <a:srgbClr val="3A6B50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28800" y="42245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29000" y="777240"/>
            <a:ext cx="5394960" cy="2106637"/>
          </a:xfrm>
          <a:prstGeom prst="roundRect">
            <a:avLst>
              <a:gd name="adj" fmla="val 2667"/>
            </a:avLst>
          </a:prstGeom>
          <a:solidFill>
            <a:srgbClr val="F5EFEB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11880" y="868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261872"/>
          <a:ext cx="5129784" cy="1188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6B50"/>
                          </a:solidFill>
                        </a:rPr>
                        <a:t>Walking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704F"/>
                          </a:solidFill>
                        </a:rPr>
                        <a:t>Running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3429000" y="3017520"/>
            <a:ext cx="5394960" cy="2075688"/>
          </a:xfrm>
          <a:prstGeom prst="roundRect">
            <a:avLst>
              <a:gd name="adj" fmla="val 4938"/>
            </a:avLst>
          </a:prstGeom>
          <a:solidFill>
            <a:srgbClr val="2F4156"/>
          </a:solidFill>
          <a:ln/>
        </p:spPr>
      </p:sp>
      <p:sp>
        <p:nvSpPr>
          <p:cNvPr id="29" name="Text 26"/>
          <p:cNvSpPr/>
          <p:nvPr/>
        </p:nvSpPr>
        <p:spPr>
          <a:xfrm>
            <a:off x="3506372" y="30864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548575" y="3368509"/>
            <a:ext cx="5029200" cy="14500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identifies Walking with very high recall (1.00) — no walking samples missed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has perfect precision (1.00) but lower recall — some running clips misclassified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 overall accuracy demonstrates that pose-based temporal embeddings capture gait patterns effectively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67C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9144000" cy="182880"/>
          </a:xfrm>
          <a:prstGeom prst="rect">
            <a:avLst/>
          </a:prstGeom>
          <a:solidFill>
            <a:srgbClr val="C8D9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C8D9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8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Analysis of Walking and Running using Computer Vision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636</Words>
  <Application>Microsoft Office PowerPoint</Application>
  <PresentationFormat>On-screen Show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Gait Analysis of Walking and Running using Computer Vision</dc:title>
  <dc:subject>PptxGenJS Presentation</dc:subject>
  <dc:creator>PptxGenJS</dc:creator>
  <cp:lastModifiedBy>Ayushi Narnolia</cp:lastModifiedBy>
  <cp:revision>2</cp:revision>
  <dcterms:created xsi:type="dcterms:W3CDTF">2026-06-24T17:29:13Z</dcterms:created>
  <dcterms:modified xsi:type="dcterms:W3CDTF">2026-06-24T17:48:22Z</dcterms:modified>
</cp:coreProperties>
</file>